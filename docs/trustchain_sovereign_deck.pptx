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0D1F35"/>
          </a:solidFill>
          <a:ln w="12700">
            <a:solidFill>
              <a:srgbClr val="0D1F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0"/>
            <a:ext cx="365760" cy="5143500"/>
          </a:xfrm>
          <a:prstGeom prst="rect">
            <a:avLst/>
          </a:prstGeom>
          <a:solidFill>
            <a:srgbClr val="00C9A7">
              <a:alpha val="80000"/>
            </a:srgbClr>
          </a:solidFill>
          <a:ln w="12700">
            <a:solidFill>
              <a:srgbClr val="00C9A7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365760"/>
            <a:ext cx="54864" cy="54864"/>
          </a:xfrm>
          <a:prstGeom prst="oval">
            <a:avLst/>
          </a:prstGeom>
          <a:solidFill>
            <a:srgbClr val="00C9A7">
              <a:alpha val="40000"/>
            </a:srgbClr>
          </a:solidFill>
          <a:ln w="12700">
            <a:solidFill>
              <a:srgbClr val="00C9A7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92240" y="365760"/>
            <a:ext cx="54864" cy="54864"/>
          </a:xfrm>
          <a:prstGeom prst="oval">
            <a:avLst/>
          </a:prstGeom>
          <a:solidFill>
            <a:srgbClr val="00C9A7">
              <a:alpha val="40000"/>
            </a:srgbClr>
          </a:solidFill>
          <a:ln w="12700">
            <a:solidFill>
              <a:srgbClr val="00C9A7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40880" y="365760"/>
            <a:ext cx="54864" cy="54864"/>
          </a:xfrm>
          <a:prstGeom prst="oval">
            <a:avLst/>
          </a:prstGeom>
          <a:solidFill>
            <a:srgbClr val="00C9A7">
              <a:alpha val="40000"/>
            </a:srgbClr>
          </a:solidFill>
          <a:ln w="12700">
            <a:solidFill>
              <a:srgbClr val="00C9A7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89520" y="365760"/>
            <a:ext cx="54864" cy="54864"/>
          </a:xfrm>
          <a:prstGeom prst="oval">
            <a:avLst/>
          </a:prstGeom>
          <a:solidFill>
            <a:srgbClr val="00C9A7">
              <a:alpha val="40000"/>
            </a:srgbClr>
          </a:solidFill>
          <a:ln w="12700">
            <a:solidFill>
              <a:srgbClr val="00C9A7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0" y="365760"/>
            <a:ext cx="54864" cy="54864"/>
          </a:xfrm>
          <a:prstGeom prst="oval">
            <a:avLst/>
          </a:prstGeom>
          <a:solidFill>
            <a:srgbClr val="00C9A7">
              <a:alpha val="40000"/>
            </a:srgbClr>
          </a:solidFill>
          <a:ln w="12700">
            <a:solidFill>
              <a:srgbClr val="00C9A7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0" y="1280160"/>
            <a:ext cx="54864" cy="54864"/>
          </a:xfrm>
          <a:prstGeom prst="oval">
            <a:avLst/>
          </a:prstGeom>
          <a:solidFill>
            <a:srgbClr val="00C9A7">
              <a:alpha val="40000"/>
            </a:srgbClr>
          </a:solidFill>
          <a:ln w="12700">
            <a:solidFill>
              <a:srgbClr val="00C9A7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2240" y="1280160"/>
            <a:ext cx="54864" cy="54864"/>
          </a:xfrm>
          <a:prstGeom prst="oval">
            <a:avLst/>
          </a:prstGeom>
          <a:solidFill>
            <a:srgbClr val="00C9A7">
              <a:alpha val="40000"/>
            </a:srgbClr>
          </a:solidFill>
          <a:ln w="12700">
            <a:solidFill>
              <a:srgbClr val="00C9A7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040880" y="1280160"/>
            <a:ext cx="54864" cy="54864"/>
          </a:xfrm>
          <a:prstGeom prst="oval">
            <a:avLst/>
          </a:prstGeom>
          <a:solidFill>
            <a:srgbClr val="00C9A7">
              <a:alpha val="40000"/>
            </a:srgbClr>
          </a:solidFill>
          <a:ln w="12700">
            <a:solidFill>
              <a:srgbClr val="00C9A7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89520" y="1280160"/>
            <a:ext cx="54864" cy="54864"/>
          </a:xfrm>
          <a:prstGeom prst="oval">
            <a:avLst/>
          </a:prstGeom>
          <a:solidFill>
            <a:srgbClr val="00C9A7">
              <a:alpha val="40000"/>
            </a:srgbClr>
          </a:solidFill>
          <a:ln w="12700">
            <a:solidFill>
              <a:srgbClr val="00C9A7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38160" y="1280160"/>
            <a:ext cx="54864" cy="54864"/>
          </a:xfrm>
          <a:prstGeom prst="oval">
            <a:avLst/>
          </a:prstGeom>
          <a:solidFill>
            <a:srgbClr val="00C9A7">
              <a:alpha val="40000"/>
            </a:srgbClr>
          </a:solidFill>
          <a:ln w="12700">
            <a:solidFill>
              <a:srgbClr val="00C9A7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0" y="2194560"/>
            <a:ext cx="54864" cy="54864"/>
          </a:xfrm>
          <a:prstGeom prst="oval">
            <a:avLst/>
          </a:prstGeom>
          <a:solidFill>
            <a:srgbClr val="00C9A7">
              <a:alpha val="40000"/>
            </a:srgbClr>
          </a:solidFill>
          <a:ln w="12700">
            <a:solidFill>
              <a:srgbClr val="00C9A7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92240" y="2194560"/>
            <a:ext cx="54864" cy="54864"/>
          </a:xfrm>
          <a:prstGeom prst="oval">
            <a:avLst/>
          </a:prstGeom>
          <a:solidFill>
            <a:srgbClr val="00C9A7">
              <a:alpha val="40000"/>
            </a:srgbClr>
          </a:solidFill>
          <a:ln w="12700">
            <a:solidFill>
              <a:srgbClr val="00C9A7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40880" y="2194560"/>
            <a:ext cx="54864" cy="54864"/>
          </a:xfrm>
          <a:prstGeom prst="oval">
            <a:avLst/>
          </a:prstGeom>
          <a:solidFill>
            <a:srgbClr val="00C9A7">
              <a:alpha val="40000"/>
            </a:srgbClr>
          </a:solidFill>
          <a:ln w="12700">
            <a:solidFill>
              <a:srgbClr val="00C9A7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89520" y="2194560"/>
            <a:ext cx="54864" cy="54864"/>
          </a:xfrm>
          <a:prstGeom prst="oval">
            <a:avLst/>
          </a:prstGeom>
          <a:solidFill>
            <a:srgbClr val="00C9A7">
              <a:alpha val="40000"/>
            </a:srgbClr>
          </a:solidFill>
          <a:ln w="12700">
            <a:solidFill>
              <a:srgbClr val="00C9A7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38160" y="2194560"/>
            <a:ext cx="54864" cy="54864"/>
          </a:xfrm>
          <a:prstGeom prst="oval">
            <a:avLst/>
          </a:prstGeom>
          <a:solidFill>
            <a:srgbClr val="00C9A7">
              <a:alpha val="40000"/>
            </a:srgbClr>
          </a:solidFill>
          <a:ln w="12700">
            <a:solidFill>
              <a:srgbClr val="00C9A7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0" y="3108960"/>
            <a:ext cx="54864" cy="54864"/>
          </a:xfrm>
          <a:prstGeom prst="oval">
            <a:avLst/>
          </a:prstGeom>
          <a:solidFill>
            <a:srgbClr val="00C9A7">
              <a:alpha val="40000"/>
            </a:srgbClr>
          </a:solidFill>
          <a:ln w="12700">
            <a:solidFill>
              <a:srgbClr val="00C9A7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2240" y="3108960"/>
            <a:ext cx="54864" cy="54864"/>
          </a:xfrm>
          <a:prstGeom prst="oval">
            <a:avLst/>
          </a:prstGeom>
          <a:solidFill>
            <a:srgbClr val="00C9A7">
              <a:alpha val="40000"/>
            </a:srgbClr>
          </a:solidFill>
          <a:ln w="12700">
            <a:solidFill>
              <a:srgbClr val="00C9A7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40880" y="3108960"/>
            <a:ext cx="54864" cy="54864"/>
          </a:xfrm>
          <a:prstGeom prst="oval">
            <a:avLst/>
          </a:prstGeom>
          <a:solidFill>
            <a:srgbClr val="00C9A7">
              <a:alpha val="40000"/>
            </a:srgbClr>
          </a:solidFill>
          <a:ln w="12700">
            <a:solidFill>
              <a:srgbClr val="00C9A7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89520" y="3108960"/>
            <a:ext cx="54864" cy="54864"/>
          </a:xfrm>
          <a:prstGeom prst="oval">
            <a:avLst/>
          </a:prstGeom>
          <a:solidFill>
            <a:srgbClr val="00C9A7">
              <a:alpha val="40000"/>
            </a:srgbClr>
          </a:solidFill>
          <a:ln w="12700">
            <a:solidFill>
              <a:srgbClr val="00C9A7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38160" y="3108960"/>
            <a:ext cx="54864" cy="54864"/>
          </a:xfrm>
          <a:prstGeom prst="oval">
            <a:avLst/>
          </a:prstGeom>
          <a:solidFill>
            <a:srgbClr val="00C9A7">
              <a:alpha val="40000"/>
            </a:srgbClr>
          </a:solidFill>
          <a:ln w="12700">
            <a:solidFill>
              <a:srgbClr val="00C9A7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0" y="4023360"/>
            <a:ext cx="54864" cy="54864"/>
          </a:xfrm>
          <a:prstGeom prst="oval">
            <a:avLst/>
          </a:prstGeom>
          <a:solidFill>
            <a:srgbClr val="00C9A7">
              <a:alpha val="40000"/>
            </a:srgbClr>
          </a:solidFill>
          <a:ln w="12700">
            <a:solidFill>
              <a:srgbClr val="00C9A7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92240" y="4023360"/>
            <a:ext cx="54864" cy="54864"/>
          </a:xfrm>
          <a:prstGeom prst="oval">
            <a:avLst/>
          </a:prstGeom>
          <a:solidFill>
            <a:srgbClr val="00C9A7">
              <a:alpha val="40000"/>
            </a:srgbClr>
          </a:solidFill>
          <a:ln w="12700">
            <a:solidFill>
              <a:srgbClr val="00C9A7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040880" y="4023360"/>
            <a:ext cx="54864" cy="54864"/>
          </a:xfrm>
          <a:prstGeom prst="oval">
            <a:avLst/>
          </a:prstGeom>
          <a:solidFill>
            <a:srgbClr val="00C9A7">
              <a:alpha val="40000"/>
            </a:srgbClr>
          </a:solidFill>
          <a:ln w="12700">
            <a:solidFill>
              <a:srgbClr val="00C9A7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589520" y="4023360"/>
            <a:ext cx="54864" cy="54864"/>
          </a:xfrm>
          <a:prstGeom prst="oval">
            <a:avLst/>
          </a:prstGeom>
          <a:solidFill>
            <a:srgbClr val="00C9A7">
              <a:alpha val="40000"/>
            </a:srgbClr>
          </a:solidFill>
          <a:ln w="12700">
            <a:solidFill>
              <a:srgbClr val="00C9A7">
                <a:alpha val="4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38160" y="4023360"/>
            <a:ext cx="54864" cy="54864"/>
          </a:xfrm>
          <a:prstGeom prst="oval">
            <a:avLst/>
          </a:prstGeom>
          <a:solidFill>
            <a:srgbClr val="00C9A7">
              <a:alpha val="40000"/>
            </a:srgbClr>
          </a:solidFill>
          <a:ln w="12700">
            <a:solidFill>
              <a:srgbClr val="00C9A7">
                <a:alpha val="4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411480"/>
            <a:ext cx="658368" cy="658368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411480" y="1188720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TrustChain</a:t>
            </a:r>
            <a:endParaRPr lang="en-US" sz="4600" dirty="0"/>
          </a:p>
        </p:txBody>
      </p:sp>
      <p:sp>
        <p:nvSpPr>
          <p:cNvPr id="32" name="Text 29"/>
          <p:cNvSpPr/>
          <p:nvPr/>
        </p:nvSpPr>
        <p:spPr>
          <a:xfrm>
            <a:off x="411480" y="1737360"/>
            <a:ext cx="5120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Sovereign</a:t>
            </a:r>
            <a:endParaRPr lang="en-US" sz="4600" dirty="0"/>
          </a:p>
        </p:txBody>
      </p:sp>
      <p:sp>
        <p:nvSpPr>
          <p:cNvPr id="33" name="Text 30"/>
          <p:cNvSpPr/>
          <p:nvPr/>
        </p:nvSpPr>
        <p:spPr>
          <a:xfrm>
            <a:off x="411480" y="237744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Behavioral Firewall for Solana</a:t>
            </a:r>
            <a:endParaRPr lang="en-US" sz="1500" dirty="0"/>
          </a:p>
        </p:txBody>
      </p:sp>
      <p:sp>
        <p:nvSpPr>
          <p:cNvPr id="34" name="Shape 31"/>
          <p:cNvSpPr/>
          <p:nvPr/>
        </p:nvSpPr>
        <p:spPr>
          <a:xfrm>
            <a:off x="411480" y="2834640"/>
            <a:ext cx="3474720" cy="36576"/>
          </a:xfrm>
          <a:prstGeom prst="rect">
            <a:avLst/>
          </a:prstGeom>
          <a:solidFill>
            <a:srgbClr val="008F75"/>
          </a:solidFill>
          <a:ln w="12700">
            <a:solidFill>
              <a:srgbClr val="008F75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11480" y="2962656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Sybil-resistant on-chain reputation for P2P wagering pools.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5897880" y="822960"/>
            <a:ext cx="2743200" cy="1051560"/>
          </a:xfrm>
          <a:prstGeom prst="rect">
            <a:avLst/>
          </a:prstGeom>
          <a:solidFill>
            <a:srgbClr val="112847"/>
          </a:solidFill>
          <a:ln w="6350">
            <a:solidFill>
              <a:srgbClr val="1C3D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3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078992"/>
            <a:ext cx="411480" cy="411480"/>
          </a:xfrm>
          <a:prstGeom prst="rect">
            <a:avLst/>
          </a:prstGeom>
        </p:spPr>
      </p:pic>
      <p:sp>
        <p:nvSpPr>
          <p:cNvPr id="38" name="Text 34"/>
          <p:cNvSpPr/>
          <p:nvPr/>
        </p:nvSpPr>
        <p:spPr>
          <a:xfrm>
            <a:off x="6583680" y="100584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Fingerprinting</a:t>
            </a:r>
            <a:endParaRPr lang="en-US" sz="1200" dirty="0"/>
          </a:p>
        </p:txBody>
      </p:sp>
      <p:sp>
        <p:nvSpPr>
          <p:cNvPr id="39" name="Text 35"/>
          <p:cNvSpPr/>
          <p:nvPr/>
        </p:nvSpPr>
        <p:spPr>
          <a:xfrm>
            <a:off x="6583680" y="133502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Gini + HHI dual gatekeeper</a:t>
            </a:r>
            <a:endParaRPr lang="en-US" sz="950" dirty="0"/>
          </a:p>
        </p:txBody>
      </p:sp>
      <p:sp>
        <p:nvSpPr>
          <p:cNvPr id="40" name="Shape 36"/>
          <p:cNvSpPr/>
          <p:nvPr/>
        </p:nvSpPr>
        <p:spPr>
          <a:xfrm>
            <a:off x="5897880" y="2121408"/>
            <a:ext cx="2743200" cy="1051560"/>
          </a:xfrm>
          <a:prstGeom prst="rect">
            <a:avLst/>
          </a:prstGeom>
          <a:solidFill>
            <a:srgbClr val="112847"/>
          </a:solidFill>
          <a:ln w="6350">
            <a:solidFill>
              <a:srgbClr val="1C3D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4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2377440"/>
            <a:ext cx="411480" cy="411480"/>
          </a:xfrm>
          <a:prstGeom prst="rect">
            <a:avLst/>
          </a:prstGeom>
        </p:spPr>
      </p:pic>
      <p:sp>
        <p:nvSpPr>
          <p:cNvPr id="42" name="Text 37"/>
          <p:cNvSpPr/>
          <p:nvPr/>
        </p:nvSpPr>
        <p:spPr>
          <a:xfrm>
            <a:off x="6583680" y="2304288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 Architecture</a:t>
            </a:r>
            <a:endParaRPr lang="en-US" sz="1200" dirty="0"/>
          </a:p>
        </p:txBody>
      </p:sp>
      <p:sp>
        <p:nvSpPr>
          <p:cNvPr id="43" name="Text 38"/>
          <p:cNvSpPr/>
          <p:nvPr/>
        </p:nvSpPr>
        <p:spPr>
          <a:xfrm>
            <a:off x="6583680" y="263347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Helius gRPC · Temporal Sentinel</a:t>
            </a:r>
            <a:endParaRPr lang="en-US" sz="950" dirty="0"/>
          </a:p>
        </p:txBody>
      </p:sp>
      <p:sp>
        <p:nvSpPr>
          <p:cNvPr id="44" name="Shape 39"/>
          <p:cNvSpPr/>
          <p:nvPr/>
        </p:nvSpPr>
        <p:spPr>
          <a:xfrm>
            <a:off x="5897880" y="3419856"/>
            <a:ext cx="2743200" cy="1051560"/>
          </a:xfrm>
          <a:prstGeom prst="rect">
            <a:avLst/>
          </a:prstGeom>
          <a:solidFill>
            <a:srgbClr val="112847"/>
          </a:solidFill>
          <a:ln w="6350">
            <a:solidFill>
              <a:srgbClr val="1C3D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4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3675888"/>
            <a:ext cx="411480" cy="411480"/>
          </a:xfrm>
          <a:prstGeom prst="rect">
            <a:avLst/>
          </a:prstGeom>
        </p:spPr>
      </p:pic>
      <p:sp>
        <p:nvSpPr>
          <p:cNvPr id="46" name="Text 40"/>
          <p:cNvSpPr/>
          <p:nvPr/>
        </p:nvSpPr>
        <p:spPr>
          <a:xfrm>
            <a:off x="6583680" y="3602736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Composable SDK</a:t>
            </a:r>
            <a:endParaRPr lang="en-US" sz="1200" dirty="0"/>
          </a:p>
        </p:txBody>
      </p:sp>
      <p:sp>
        <p:nvSpPr>
          <p:cNvPr id="47" name="Text 41"/>
          <p:cNvSpPr/>
          <p:nvPr/>
        </p:nvSpPr>
        <p:spPr>
          <a:xfrm>
            <a:off x="6583680" y="39319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useTrustChain() · PDA notarization</a:t>
            </a:r>
            <a:endParaRPr lang="en-US" sz="950" dirty="0"/>
          </a:p>
        </p:txBody>
      </p:sp>
      <p:sp>
        <p:nvSpPr>
          <p:cNvPr id="48" name="Text 42"/>
          <p:cNvSpPr/>
          <p:nvPr/>
        </p:nvSpPr>
        <p:spPr>
          <a:xfrm>
            <a:off x="411480" y="477316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v1.0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1737360" cy="246888"/>
          </a:xfrm>
          <a:prstGeom prst="rect">
            <a:avLst/>
          </a:prstGeom>
          <a:solidFill>
            <a:srgbClr val="00C9A7">
              <a:alpha val="20000"/>
            </a:srgbClr>
          </a:solidFill>
          <a:ln w="1016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00C9A7"/>
                </a:solidFill>
              </a:rPr>
              <a:t>THE PROBLEM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Sybil Gap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11480" y="114300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coordinated clusters drain P2P pool liquidity undetected.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274320" y="1572768"/>
            <a:ext cx="5303520" cy="960120"/>
          </a:xfrm>
          <a:prstGeom prst="rect">
            <a:avLst/>
          </a:prstGeom>
          <a:solidFill>
            <a:srgbClr val="0D1F35"/>
          </a:solidFill>
          <a:ln w="6350">
            <a:solidFill>
              <a:srgbClr val="1C3D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572768"/>
            <a:ext cx="50292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28800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1664208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Analysis Blindspot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960120" y="1956816"/>
            <a:ext cx="4434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KYC, IP tracking, and wallet-age checks audit accounts one by one. A cluster of 50 puppet wallets acting in coordinated lockstep is invisible to every standard heuristic.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74320" y="2670048"/>
            <a:ext cx="5303520" cy="960120"/>
          </a:xfrm>
          <a:prstGeom prst="rect">
            <a:avLst/>
          </a:prstGeom>
          <a:solidFill>
            <a:srgbClr val="0D1F35"/>
          </a:solidFill>
          <a:ln w="6350">
            <a:solidFill>
              <a:srgbClr val="1C3D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74320" y="2670048"/>
            <a:ext cx="50292" cy="9601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926080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60120" y="2761488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Hedging Drain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960120" y="3054096"/>
            <a:ext cx="4434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operator places opposing bets across all outcome permutations simultaneously. Guaranteed profit regardless of result — funded directly from your real users' liquidity.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274320" y="3767328"/>
            <a:ext cx="5303520" cy="960120"/>
          </a:xfrm>
          <a:prstGeom prst="rect">
            <a:avLst/>
          </a:prstGeom>
          <a:solidFill>
            <a:srgbClr val="0D1F35"/>
          </a:solidFill>
          <a:ln w="6350">
            <a:solidFill>
              <a:srgbClr val="1C3D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274320" y="3767328"/>
            <a:ext cx="50292" cy="9601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023360"/>
            <a:ext cx="347472" cy="34747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60120" y="3858768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Missing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960120" y="4151376"/>
            <a:ext cx="4434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existing tool reads the mathematical relationships between accounts. Fraud defense requires cluster forensics, not individual wallet inspection.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5806440" y="157276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EXPOSURE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5806440" y="1874520"/>
            <a:ext cx="3017520" cy="1005840"/>
          </a:xfrm>
          <a:prstGeom prst="rect">
            <a:avLst/>
          </a:prstGeom>
          <a:solidFill>
            <a:srgbClr val="112847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5806440" y="1984248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5–15%</a:t>
            </a:r>
            <a:endParaRPr lang="en-US" sz="3400" dirty="0"/>
          </a:p>
        </p:txBody>
      </p:sp>
      <p:sp>
        <p:nvSpPr>
          <p:cNvPr id="24" name="Text 19"/>
          <p:cNvSpPr/>
          <p:nvPr/>
        </p:nvSpPr>
        <p:spPr>
          <a:xfrm>
            <a:off x="5806440" y="2551176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value drained by hedging clusters in unprotected protocols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5806440" y="2999232"/>
            <a:ext cx="3017520" cy="1005840"/>
          </a:xfrm>
          <a:prstGeom prst="rect">
            <a:avLst/>
          </a:prstGeom>
          <a:solidFill>
            <a:srgbClr val="112847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6" name="Text 21"/>
          <p:cNvSpPr/>
          <p:nvPr/>
        </p:nvSpPr>
        <p:spPr>
          <a:xfrm>
            <a:off x="5806440" y="31089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50+</a:t>
            </a:r>
            <a:endParaRPr lang="en-US" sz="3400" dirty="0"/>
          </a:p>
        </p:txBody>
      </p:sp>
      <p:sp>
        <p:nvSpPr>
          <p:cNvPr id="27" name="Text 22"/>
          <p:cNvSpPr/>
          <p:nvPr/>
        </p:nvSpPr>
        <p:spPr>
          <a:xfrm>
            <a:off x="5806440" y="3675888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puppet wallets per coordinated Sybil attack (typical)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5806440" y="4123944"/>
            <a:ext cx="3017520" cy="822960"/>
          </a:xfrm>
          <a:prstGeom prst="rect">
            <a:avLst/>
          </a:prstGeom>
          <a:solidFill>
            <a:srgbClr val="112847"/>
          </a:solidFill>
          <a:ln w="12700">
            <a:solidFill>
              <a:srgbClr val="4A65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9" name="Text 24"/>
          <p:cNvSpPr/>
          <p:nvPr/>
        </p:nvSpPr>
        <p:spPr>
          <a:xfrm>
            <a:off x="5806440" y="4233672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A65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3400" dirty="0"/>
          </a:p>
        </p:txBody>
      </p:sp>
      <p:sp>
        <p:nvSpPr>
          <p:cNvPr id="30" name="Text 25"/>
          <p:cNvSpPr/>
          <p:nvPr/>
        </p:nvSpPr>
        <p:spPr>
          <a:xfrm>
            <a:off x="5806440" y="480060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tools capable of detecting cluster-level coordination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1737360" cy="246888"/>
          </a:xfrm>
          <a:prstGeom prst="rect">
            <a:avLst/>
          </a:prstGeom>
          <a:solidFill>
            <a:srgbClr val="00C9A7">
              <a:alpha val="20000"/>
            </a:srgbClr>
          </a:solidFill>
          <a:ln w="1016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00C9A7"/>
                </a:solidFill>
              </a:rPr>
              <a:t>THE MATH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Dual Gatekeeper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11480" y="114300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independent forensic proofs — a bot must defeat both simultaneously.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4160520" cy="3429000"/>
          </a:xfrm>
          <a:prstGeom prst="rect">
            <a:avLst/>
          </a:prstGeom>
          <a:solidFill>
            <a:srgbClr val="0D1F35"/>
          </a:solidFill>
          <a:ln w="6350">
            <a:solidFill>
              <a:srgbClr val="1C3D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508760"/>
            <a:ext cx="50292" cy="34290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1664208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1664208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Gini Coefficient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75488" y="213055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INEQUALITY DETECTION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475488" y="2423160"/>
            <a:ext cx="379476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Borrowed from macroeconomics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measure funding distribution.
</a:t>
            </a:r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Signal: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bot wallets funded from a single root address register a Gini of </a:t>
            </a:r>
            <a:pPr indent="0" marL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geometric perfection no real human community produces.
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Threshold: Gini &gt; </a:t>
            </a:r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immediate SYBIL classification.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709160" y="1508760"/>
            <a:ext cx="4160520" cy="3429000"/>
          </a:xfrm>
          <a:prstGeom prst="rect">
            <a:avLst/>
          </a:prstGeom>
          <a:solidFill>
            <a:srgbClr val="0D1F35"/>
          </a:solidFill>
          <a:ln w="6350">
            <a:solidFill>
              <a:srgbClr val="1C3D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09160" y="1508760"/>
            <a:ext cx="50292" cy="3429000"/>
          </a:xfrm>
          <a:prstGeom prst="rect">
            <a:avLst/>
          </a:prstGeom>
          <a:solidFill>
            <a:srgbClr val="3D9BE9"/>
          </a:solidFill>
          <a:ln w="12700">
            <a:solidFill>
              <a:srgbClr val="3D9BE9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0328" y="1664208"/>
            <a:ext cx="384048" cy="38404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94960" y="1664208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9B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HHI Index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4910328" y="213055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CONCENTRATION DETECTION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4910328" y="2423160"/>
            <a:ext cx="379476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Borrowed from antitrust law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(DOJ merger review) to detect monopolies.
</a:t>
            </a:r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Signal: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bot farm spreading $1M across 1,000 wallets evades whale alerts — but their collective transaction footprint remains a </a:t>
            </a:r>
            <a:pPr indent="0" marL="0">
              <a:buNone/>
            </a:pPr>
            <a:r>
              <a:rPr lang="en-US" sz="1100" b="1" dirty="0">
                <a:solidFill>
                  <a:srgbClr val="3D9B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monopoly of action.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HHI squares each share, aggressively penalizing concentration.
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hide: </a:t>
            </a:r>
            <a:pPr indent="0" marL="0">
              <a:buNone/>
            </a:pPr>
            <a:r>
              <a:rPr lang="en-US" sz="1100" b="1" dirty="0">
                <a:solidFill>
                  <a:srgbClr val="3D9B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balance + synchronized action = HHI spike.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274320" y="4773168"/>
            <a:ext cx="8595360" cy="274320"/>
          </a:xfrm>
          <a:prstGeom prst="rect">
            <a:avLst/>
          </a:prstGeom>
          <a:solidFill>
            <a:srgbClr val="112847"/>
          </a:solidFill>
          <a:ln w="6350">
            <a:solidFill>
              <a:srgbClr val="1C3D6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274320" y="477316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Gini</a:t>
            </a:r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detects the family tree (funding source)   ·   </a:t>
            </a:r>
            <a:pPr algn="ctr" indent="0" marL="0">
              <a:buNone/>
            </a:pPr>
            <a:r>
              <a:rPr lang="en-US" sz="1000" b="1" dirty="0">
                <a:solidFill>
                  <a:srgbClr val="3D9B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HHI</a:t>
            </a:r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detects the gang activity (coordinated action)   ·   defeating both simultaneously is mathematically prohibitive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1737360" cy="246888"/>
          </a:xfrm>
          <a:prstGeom prst="rect">
            <a:avLst/>
          </a:prstGeom>
          <a:solidFill>
            <a:srgbClr val="00C9A7">
              <a:alpha val="20000"/>
            </a:srgbClr>
          </a:solidFill>
          <a:ln w="1016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00C9A7"/>
                </a:solidFill>
              </a:rPr>
              <a:t>THE ARCHITECTURE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 Forensics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11480" y="114300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Helius gRPC + Temporal Sentinel — behavioral auditing at block speed.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11480" y="1572768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874520"/>
            <a:ext cx="475488" cy="475488"/>
          </a:xfrm>
          <a:prstGeom prst="oval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8745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18745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Helius gRPC (Yellowstone)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212140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stream — data arrives at block production. No polling, no 429 errors.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9224" y="2350008"/>
            <a:ext cx="0" cy="347472"/>
          </a:xfrm>
          <a:prstGeom prst="line">
            <a:avLst/>
          </a:prstGeom>
          <a:noFill/>
          <a:ln w="19050">
            <a:solidFill>
              <a:srgbClr val="00C9A7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411480" y="2496312"/>
            <a:ext cx="475488" cy="475488"/>
          </a:xfrm>
          <a:prstGeom prst="oval">
            <a:avLst/>
          </a:prstGeom>
          <a:solidFill>
            <a:srgbClr val="3D9BE9"/>
          </a:solidFill>
          <a:ln w="12700">
            <a:solidFill>
              <a:srgbClr val="3D9B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4963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05840" y="249631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Sentinel (3,000ms)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27432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scan must complete within 3,000ms or system defaults to Safety-First mode.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9224" y="2971800"/>
            <a:ext cx="0" cy="347472"/>
          </a:xfrm>
          <a:prstGeom prst="line">
            <a:avLst/>
          </a:prstGeom>
          <a:noFill/>
          <a:ln w="19050">
            <a:solidFill>
              <a:srgbClr val="3D9BE9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411480" y="3118104"/>
            <a:ext cx="475488" cy="475488"/>
          </a:xfrm>
          <a:prstGeom prst="oval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11810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05840" y="311810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Gini + HHI Scoring Engine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336499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15-transaction DNA window. 95%+ accuracy. Confirmed commitment level — no rollback risk.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9224" y="3593592"/>
            <a:ext cx="0" cy="347472"/>
          </a:xfrm>
          <a:prstGeom prst="line">
            <a:avLst/>
          </a:prstGeom>
          <a:noFill/>
          <a:ln w="19050">
            <a:solidFill>
              <a:srgbClr val="8B5CF6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411480" y="3739896"/>
            <a:ext cx="475488" cy="475488"/>
          </a:xfrm>
          <a:prstGeom prst="oval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73989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005840" y="373989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RiskAuditorAgent Decision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05840" y="398678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Index &gt; 0.35 or Gini &gt; 0.70 → autonomous SYBIL classification. No human triager.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9224" y="4215384"/>
            <a:ext cx="0" cy="347472"/>
          </a:xfrm>
          <a:prstGeom prst="line">
            <a:avLst/>
          </a:prstGeom>
          <a:noFill/>
          <a:ln w="19050">
            <a:solidFill>
              <a:srgbClr val="F59E0B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411480" y="4361688"/>
            <a:ext cx="475488" cy="475488"/>
          </a:xfrm>
          <a:prstGeom prst="oval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436168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005840" y="436168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Notary Bridge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05840" y="460857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anchored to on-chain PDA. Tamper-proof. Queryable by any protocol sub-second.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212080" y="157276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STANDARD RPC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212080" y="1874520"/>
            <a:ext cx="1097280" cy="347472"/>
          </a:xfrm>
          <a:prstGeom prst="rect">
            <a:avLst/>
          </a:prstGeom>
          <a:solidFill>
            <a:srgbClr val="112847"/>
          </a:solidFill>
          <a:ln w="5080">
            <a:solidFill>
              <a:srgbClr val="1C3D6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57800" y="187452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309360" y="1874520"/>
            <a:ext cx="1234440" cy="347472"/>
          </a:xfrm>
          <a:prstGeom prst="rect">
            <a:avLst/>
          </a:prstGeom>
          <a:solidFill>
            <a:srgbClr val="112847"/>
          </a:solidFill>
          <a:ln w="5080">
            <a:solidFill>
              <a:srgbClr val="1C3D6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55080" y="1874520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RPC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543800" y="1874520"/>
            <a:ext cx="1234440" cy="347472"/>
          </a:xfrm>
          <a:prstGeom prst="rect">
            <a:avLst/>
          </a:prstGeom>
          <a:solidFill>
            <a:srgbClr val="112847"/>
          </a:solidFill>
          <a:ln w="5080">
            <a:solidFill>
              <a:srgbClr val="1C3D6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589520" y="1874520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Helius gRPC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212080" y="2221992"/>
            <a:ext cx="1097280" cy="347472"/>
          </a:xfrm>
          <a:prstGeom prst="rect">
            <a:avLst/>
          </a:prstGeom>
          <a:solidFill>
            <a:srgbClr val="0D1F35"/>
          </a:solidFill>
          <a:ln w="5080">
            <a:solidFill>
              <a:srgbClr val="1C3D6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257800" y="2221992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309360" y="2221992"/>
            <a:ext cx="1234440" cy="347472"/>
          </a:xfrm>
          <a:prstGeom prst="rect">
            <a:avLst/>
          </a:prstGeom>
          <a:solidFill>
            <a:srgbClr val="06111F"/>
          </a:solidFill>
          <a:ln w="5080">
            <a:solidFill>
              <a:srgbClr val="1C3D6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55080" y="2221992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Polling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543800" y="2221992"/>
            <a:ext cx="1234440" cy="347472"/>
          </a:xfrm>
          <a:prstGeom prst="rect">
            <a:avLst/>
          </a:prstGeom>
          <a:solidFill>
            <a:srgbClr val="06111F"/>
          </a:solidFill>
          <a:ln w="5080">
            <a:solidFill>
              <a:srgbClr val="1C3D6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589520" y="2221992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(gRPC)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212080" y="2569464"/>
            <a:ext cx="1097280" cy="347472"/>
          </a:xfrm>
          <a:prstGeom prst="rect">
            <a:avLst/>
          </a:prstGeom>
          <a:solidFill>
            <a:srgbClr val="0D1F35"/>
          </a:solidFill>
          <a:ln w="5080">
            <a:solidFill>
              <a:srgbClr val="1C3D6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57800" y="2569464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lag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309360" y="2569464"/>
            <a:ext cx="1234440" cy="347472"/>
          </a:xfrm>
          <a:prstGeom prst="rect">
            <a:avLst/>
          </a:prstGeom>
          <a:solidFill>
            <a:srgbClr val="06111F"/>
          </a:solidFill>
          <a:ln w="5080">
            <a:solidFill>
              <a:srgbClr val="1C3D6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55080" y="2569464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2–5 slots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7543800" y="2569464"/>
            <a:ext cx="1234440" cy="347472"/>
          </a:xfrm>
          <a:prstGeom prst="rect">
            <a:avLst/>
          </a:prstGeom>
          <a:solidFill>
            <a:srgbClr val="06111F"/>
          </a:solidFill>
          <a:ln w="5080">
            <a:solidFill>
              <a:srgbClr val="1C3D6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589520" y="2569464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 slot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212080" y="2916936"/>
            <a:ext cx="1097280" cy="347472"/>
          </a:xfrm>
          <a:prstGeom prst="rect">
            <a:avLst/>
          </a:prstGeom>
          <a:solidFill>
            <a:srgbClr val="0D1F35"/>
          </a:solidFill>
          <a:ln w="5080">
            <a:solidFill>
              <a:srgbClr val="1C3D6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257800" y="2916936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added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309360" y="2916936"/>
            <a:ext cx="1234440" cy="347472"/>
          </a:xfrm>
          <a:prstGeom prst="rect">
            <a:avLst/>
          </a:prstGeom>
          <a:solidFill>
            <a:srgbClr val="06111F"/>
          </a:solidFill>
          <a:ln w="5080">
            <a:solidFill>
              <a:srgbClr val="1C3D6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55080" y="2916936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800ms–2,000ms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7543800" y="2916936"/>
            <a:ext cx="1234440" cy="347472"/>
          </a:xfrm>
          <a:prstGeom prst="rect">
            <a:avLst/>
          </a:prstGeom>
          <a:solidFill>
            <a:srgbClr val="06111F"/>
          </a:solidFill>
          <a:ln w="5080">
            <a:solidFill>
              <a:srgbClr val="1C3D6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589520" y="2916936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~50ms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5212080" y="3264408"/>
            <a:ext cx="1097280" cy="347472"/>
          </a:xfrm>
          <a:prstGeom prst="rect">
            <a:avLst/>
          </a:prstGeom>
          <a:solidFill>
            <a:srgbClr val="0D1F35"/>
          </a:solidFill>
          <a:ln w="5080">
            <a:solidFill>
              <a:srgbClr val="1C3D6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257800" y="3264408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load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309360" y="3264408"/>
            <a:ext cx="1234440" cy="347472"/>
          </a:xfrm>
          <a:prstGeom prst="rect">
            <a:avLst/>
          </a:prstGeom>
          <a:solidFill>
            <a:srgbClr val="06111F"/>
          </a:solidFill>
          <a:ln w="5080">
            <a:solidFill>
              <a:srgbClr val="1C3D6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355080" y="3264408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429 errors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7543800" y="3264408"/>
            <a:ext cx="1234440" cy="347472"/>
          </a:xfrm>
          <a:prstGeom prst="rect">
            <a:avLst/>
          </a:prstGeom>
          <a:solidFill>
            <a:srgbClr val="06111F"/>
          </a:solidFill>
          <a:ln w="5080">
            <a:solidFill>
              <a:srgbClr val="1C3D6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589520" y="3264408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stream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5212080" y="3611880"/>
            <a:ext cx="1097280" cy="347472"/>
          </a:xfrm>
          <a:prstGeom prst="rect">
            <a:avLst/>
          </a:prstGeom>
          <a:solidFill>
            <a:srgbClr val="0D1F35"/>
          </a:solidFill>
          <a:ln w="5080">
            <a:solidFill>
              <a:srgbClr val="1C3D6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257800" y="361188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risk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6309360" y="3611880"/>
            <a:ext cx="1234440" cy="347472"/>
          </a:xfrm>
          <a:prstGeom prst="rect">
            <a:avLst/>
          </a:prstGeom>
          <a:solidFill>
            <a:srgbClr val="06111F"/>
          </a:solidFill>
          <a:ln w="5080">
            <a:solidFill>
              <a:srgbClr val="1C3D6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355080" y="3611880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7543800" y="3611880"/>
            <a:ext cx="1234440" cy="347472"/>
          </a:xfrm>
          <a:prstGeom prst="rect">
            <a:avLst/>
          </a:prstGeom>
          <a:solidFill>
            <a:srgbClr val="06111F"/>
          </a:solidFill>
          <a:ln w="5080">
            <a:solidFill>
              <a:srgbClr val="1C3D6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589520" y="3611880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Sentinel-guarded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5212080" y="4041648"/>
            <a:ext cx="3566160" cy="868680"/>
          </a:xfrm>
          <a:prstGeom prst="rect">
            <a:avLst/>
          </a:prstGeom>
          <a:solidFill>
            <a:srgbClr val="112847"/>
          </a:solidFill>
          <a:ln w="10160">
            <a:solidFill>
              <a:srgbClr val="00C9A7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212080" y="4041648"/>
            <a:ext cx="50292" cy="86868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349240" y="4133088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Goldilocks Window</a:t>
            </a:r>
            <a:endParaRPr lang="en-US" sz="1150" dirty="0"/>
          </a:p>
        </p:txBody>
      </p:sp>
      <p:sp>
        <p:nvSpPr>
          <p:cNvPr id="71" name="Text 69"/>
          <p:cNvSpPr/>
          <p:nvPr/>
        </p:nvSpPr>
        <p:spPr>
          <a:xfrm>
            <a:off x="5349240" y="4389120"/>
            <a:ext cx="3337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transactions = enough behavioral DNA for Gini/HHI accuracy while staying inside the 3,000ms sync threshold.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1737360" cy="246888"/>
          </a:xfrm>
          <a:prstGeom prst="rect">
            <a:avLst/>
          </a:prstGeom>
          <a:solidFill>
            <a:srgbClr val="00C9A7">
              <a:alpha val="20000"/>
            </a:srgbClr>
          </a:solidFill>
          <a:ln w="1016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00C9A7"/>
                </a:solidFill>
              </a:rPr>
              <a:t>THE NOTARY BRIDGE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On-Chain Composability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11480" y="114300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scores anchored to Solana PDAs — a reputation primitive any protocol can consume.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11480" y="1572768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DERIVED ADDRESS STRUCTURE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463040" y="1920240"/>
            <a:ext cx="2560320" cy="1005840"/>
          </a:xfrm>
          <a:prstGeom prst="rect">
            <a:avLst/>
          </a:prstGeom>
          <a:solidFill>
            <a:srgbClr val="112847"/>
          </a:solidFill>
          <a:ln w="1524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06040" y="2011680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235915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PDA — Reputation Account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508760" y="263347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wallet_address + program_id → deterministic address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20040" y="1920240"/>
            <a:ext cx="1005840" cy="566928"/>
          </a:xfrm>
          <a:prstGeom prst="rect">
            <a:avLst/>
          </a:prstGeom>
          <a:solidFill>
            <a:srgbClr val="0D1F35"/>
          </a:solidFill>
          <a:ln w="8890">
            <a:solidFill>
              <a:srgbClr val="00C9A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5760" y="195681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Gini Score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65760" y="2194560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inequality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1325880" y="2203704"/>
            <a:ext cx="457200" cy="0"/>
          </a:xfrm>
          <a:prstGeom prst="line">
            <a:avLst/>
          </a:prstGeom>
          <a:noFill/>
          <a:ln w="12700">
            <a:solidFill>
              <a:srgbClr val="00C9A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0040" y="2697480"/>
            <a:ext cx="1005840" cy="566928"/>
          </a:xfrm>
          <a:prstGeom prst="rect">
            <a:avLst/>
          </a:prstGeom>
          <a:solidFill>
            <a:srgbClr val="0D1F35"/>
          </a:solidFill>
          <a:ln w="8890">
            <a:solidFill>
              <a:srgbClr val="3D9BE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65760" y="273405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9B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HHI Score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65760" y="2971800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concentration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1325880" y="2980944"/>
            <a:ext cx="457200" cy="0"/>
          </a:xfrm>
          <a:prstGeom prst="line">
            <a:avLst/>
          </a:prstGeom>
          <a:noFill/>
          <a:ln w="12700">
            <a:solidFill>
              <a:srgbClr val="3D9BE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20040" y="3474720"/>
            <a:ext cx="1005840" cy="566928"/>
          </a:xfrm>
          <a:prstGeom prst="rect">
            <a:avLst/>
          </a:prstGeom>
          <a:solidFill>
            <a:srgbClr val="0D1F35"/>
          </a:solidFill>
          <a:ln w="8890">
            <a:solidFill>
              <a:srgbClr val="F59E0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65760" y="351129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Index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365760" y="3749040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sync flag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1325880" y="3758184"/>
            <a:ext cx="45720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206240" y="1920240"/>
            <a:ext cx="1097280" cy="566928"/>
          </a:xfrm>
          <a:prstGeom prst="rect">
            <a:avLst/>
          </a:prstGeom>
          <a:solidFill>
            <a:srgbClr val="0D1F35"/>
          </a:solidFill>
          <a:ln w="8890">
            <a:solidFill>
              <a:srgbClr val="22C55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251960" y="195681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Score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4251960" y="2194560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STEWARD / RESTRICTED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4023360" y="2203704"/>
            <a:ext cx="182880" cy="0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206240" y="2697480"/>
            <a:ext cx="1097280" cy="566928"/>
          </a:xfrm>
          <a:prstGeom prst="rect">
            <a:avLst/>
          </a:prstGeom>
          <a:solidFill>
            <a:srgbClr val="0D1F35"/>
          </a:solidFill>
          <a:ln w="8890">
            <a:solidFill>
              <a:srgbClr val="00C9A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251960" y="273405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Wt.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4251960" y="2971800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voting power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4023360" y="2980944"/>
            <a:ext cx="182880" cy="0"/>
          </a:xfrm>
          <a:prstGeom prst="line">
            <a:avLst/>
          </a:prstGeom>
          <a:noFill/>
          <a:ln w="12700">
            <a:solidFill>
              <a:srgbClr val="00C9A7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206240" y="3474720"/>
            <a:ext cx="1097280" cy="566928"/>
          </a:xfrm>
          <a:prstGeom prst="rect">
            <a:avLst/>
          </a:prstGeom>
          <a:solidFill>
            <a:srgbClr val="0D1F35"/>
          </a:solidFill>
          <a:ln w="8890">
            <a:solidFill>
              <a:srgbClr val="8B5CF6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251960" y="351129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Payout Mult.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4251960" y="3749040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 – 1.2x multiplier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4023360" y="3758184"/>
            <a:ext cx="182880" cy="0"/>
          </a:xfrm>
          <a:prstGeom prst="line">
            <a:avLst/>
          </a:prstGeom>
          <a:noFill/>
          <a:ln w="12700">
            <a:solidFill>
              <a:srgbClr val="8B5CF6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20040" y="4224528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"Confirmed" commitment — voted on by validator supermajority. Rollback probability: negligible.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5486400" y="1572768"/>
            <a:ext cx="3337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ON-CHAIN MATTERS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5486400" y="1901952"/>
            <a:ext cx="3337560" cy="658368"/>
          </a:xfrm>
          <a:prstGeom prst="rect">
            <a:avLst/>
          </a:prstGeom>
          <a:solidFill>
            <a:srgbClr val="0D1F35"/>
          </a:solidFill>
          <a:ln w="6350">
            <a:solidFill>
              <a:srgbClr val="1C3D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5486400" y="1901952"/>
            <a:ext cx="50292" cy="6583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3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6128" y="2084832"/>
            <a:ext cx="256032" cy="256032"/>
          </a:xfrm>
          <a:prstGeom prst="rect">
            <a:avLst/>
          </a:prstGeom>
        </p:spPr>
      </p:pic>
      <p:sp>
        <p:nvSpPr>
          <p:cNvPr id="40" name="Text 36"/>
          <p:cNvSpPr/>
          <p:nvPr/>
        </p:nvSpPr>
        <p:spPr>
          <a:xfrm>
            <a:off x="5943600" y="1956816"/>
            <a:ext cx="2743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Centralized Oracle</a:t>
            </a:r>
            <a:endParaRPr lang="en-US" sz="1100" dirty="0"/>
          </a:p>
        </p:txBody>
      </p:sp>
      <p:sp>
        <p:nvSpPr>
          <p:cNvPr id="41" name="Text 37"/>
          <p:cNvSpPr/>
          <p:nvPr/>
        </p:nvSpPr>
        <p:spPr>
          <a:xfrm>
            <a:off x="5943600" y="221284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off-chain database to compromise. The reputation ledger is publicly verifiable on Solana.</a:t>
            </a:r>
            <a:endParaRPr lang="en-US" sz="950" dirty="0"/>
          </a:p>
        </p:txBody>
      </p:sp>
      <p:sp>
        <p:nvSpPr>
          <p:cNvPr id="42" name="Shape 38"/>
          <p:cNvSpPr/>
          <p:nvPr/>
        </p:nvSpPr>
        <p:spPr>
          <a:xfrm>
            <a:off x="5486400" y="2670048"/>
            <a:ext cx="3337560" cy="658368"/>
          </a:xfrm>
          <a:prstGeom prst="rect">
            <a:avLst/>
          </a:prstGeom>
          <a:solidFill>
            <a:srgbClr val="0D1F35"/>
          </a:solidFill>
          <a:ln w="6350">
            <a:solidFill>
              <a:srgbClr val="1C3D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3" name="Shape 39"/>
          <p:cNvSpPr/>
          <p:nvPr/>
        </p:nvSpPr>
        <p:spPr>
          <a:xfrm>
            <a:off x="5486400" y="2670048"/>
            <a:ext cx="50292" cy="6583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4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6128" y="2852928"/>
            <a:ext cx="256032" cy="256032"/>
          </a:xfrm>
          <a:prstGeom prst="rect">
            <a:avLst/>
          </a:prstGeom>
        </p:spPr>
      </p:pic>
      <p:sp>
        <p:nvSpPr>
          <p:cNvPr id="45" name="Text 40"/>
          <p:cNvSpPr/>
          <p:nvPr/>
        </p:nvSpPr>
        <p:spPr>
          <a:xfrm>
            <a:off x="5943600" y="2724912"/>
            <a:ext cx="2743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Composable Primitive</a:t>
            </a:r>
            <a:endParaRPr lang="en-US" sz="1100" dirty="0"/>
          </a:p>
        </p:txBody>
      </p:sp>
      <p:sp>
        <p:nvSpPr>
          <p:cNvPr id="46" name="Text 41"/>
          <p:cNvSpPr/>
          <p:nvPr/>
        </p:nvSpPr>
        <p:spPr>
          <a:xfrm>
            <a:off x="5943600" y="2980944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protocol queries the PDA sub-second. TrustChain scores become a shared infrastructure layer.</a:t>
            </a:r>
            <a:endParaRPr lang="en-US" sz="950" dirty="0"/>
          </a:p>
        </p:txBody>
      </p:sp>
      <p:sp>
        <p:nvSpPr>
          <p:cNvPr id="47" name="Shape 42"/>
          <p:cNvSpPr/>
          <p:nvPr/>
        </p:nvSpPr>
        <p:spPr>
          <a:xfrm>
            <a:off x="5486400" y="3438144"/>
            <a:ext cx="3337560" cy="658368"/>
          </a:xfrm>
          <a:prstGeom prst="rect">
            <a:avLst/>
          </a:prstGeom>
          <a:solidFill>
            <a:srgbClr val="0D1F35"/>
          </a:solidFill>
          <a:ln w="6350">
            <a:solidFill>
              <a:srgbClr val="1C3D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8" name="Shape 43"/>
          <p:cNvSpPr/>
          <p:nvPr/>
        </p:nvSpPr>
        <p:spPr>
          <a:xfrm>
            <a:off x="5486400" y="3438144"/>
            <a:ext cx="50292" cy="6583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4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6128" y="3621024"/>
            <a:ext cx="256032" cy="256032"/>
          </a:xfrm>
          <a:prstGeom prst="rect">
            <a:avLst/>
          </a:prstGeom>
        </p:spPr>
      </p:pic>
      <p:sp>
        <p:nvSpPr>
          <p:cNvPr id="50" name="Text 44"/>
          <p:cNvSpPr/>
          <p:nvPr/>
        </p:nvSpPr>
        <p:spPr>
          <a:xfrm>
            <a:off x="5943600" y="3493008"/>
            <a:ext cx="2743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Non-Blocking by Design</a:t>
            </a:r>
            <a:endParaRPr lang="en-US" sz="1100" dirty="0"/>
          </a:p>
        </p:txBody>
      </p:sp>
      <p:sp>
        <p:nvSpPr>
          <p:cNvPr id="51" name="Text 45"/>
          <p:cNvSpPr/>
          <p:nvPr/>
        </p:nvSpPr>
        <p:spPr>
          <a:xfrm>
            <a:off x="5943600" y="374904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notarization fails, user flow is never blocked. Audit trail persists; UX is never impacted.</a:t>
            </a:r>
            <a:endParaRPr lang="en-US" sz="950" dirty="0"/>
          </a:p>
        </p:txBody>
      </p:sp>
      <p:sp>
        <p:nvSpPr>
          <p:cNvPr id="52" name="Shape 46"/>
          <p:cNvSpPr/>
          <p:nvPr/>
        </p:nvSpPr>
        <p:spPr>
          <a:xfrm>
            <a:off x="5486400" y="4206240"/>
            <a:ext cx="3337560" cy="658368"/>
          </a:xfrm>
          <a:prstGeom prst="rect">
            <a:avLst/>
          </a:prstGeom>
          <a:solidFill>
            <a:srgbClr val="0D1F35"/>
          </a:solidFill>
          <a:ln w="6350">
            <a:solidFill>
              <a:srgbClr val="1C3D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3" name="Shape 47"/>
          <p:cNvSpPr/>
          <p:nvPr/>
        </p:nvSpPr>
        <p:spPr>
          <a:xfrm>
            <a:off x="5486400" y="4206240"/>
            <a:ext cx="50292" cy="6583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5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6128" y="4389120"/>
            <a:ext cx="256032" cy="256032"/>
          </a:xfrm>
          <a:prstGeom prst="rect">
            <a:avLst/>
          </a:prstGeom>
        </p:spPr>
      </p:pic>
      <p:sp>
        <p:nvSpPr>
          <p:cNvPr id="55" name="Text 48"/>
          <p:cNvSpPr/>
          <p:nvPr/>
        </p:nvSpPr>
        <p:spPr>
          <a:xfrm>
            <a:off x="5943600" y="4261104"/>
            <a:ext cx="2743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Fee Protection</a:t>
            </a:r>
            <a:endParaRPr lang="en-US" sz="1100" dirty="0"/>
          </a:p>
        </p:txBody>
      </p:sp>
      <p:sp>
        <p:nvSpPr>
          <p:cNvPr id="56" name="Text 49"/>
          <p:cNvSpPr/>
          <p:nvPr/>
        </p:nvSpPr>
        <p:spPr>
          <a:xfrm>
            <a:off x="5943600" y="4517136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Helius Priority Fee API ensures Notary Bridge transactions skip the mempool during congestion spikes.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1737360" cy="246888"/>
          </a:xfrm>
          <a:prstGeom prst="rect">
            <a:avLst/>
          </a:prstGeom>
          <a:solidFill>
            <a:srgbClr val="00C9A7">
              <a:alpha val="20000"/>
            </a:srgbClr>
          </a:solidFill>
          <a:ln w="1016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00C9A7"/>
                </a:solidFill>
              </a:rPr>
              <a:t>THE SDK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"Stripe for Reputation"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11480" y="114300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React hook. One conditional. Zero new infrastructure for the integrating team.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11480" y="1572768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— useTrustChain()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847088"/>
            <a:ext cx="4663440" cy="3017520"/>
          </a:xfrm>
          <a:prstGeom prst="rect">
            <a:avLst/>
          </a:prstGeom>
          <a:solidFill>
            <a:srgbClr val="030C17"/>
          </a:solidFill>
          <a:ln w="6350">
            <a:solidFill>
              <a:srgbClr val="1C3D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847088"/>
            <a:ext cx="365760" cy="3017520"/>
          </a:xfrm>
          <a:prstGeom prst="rect">
            <a:avLst/>
          </a:prstGeom>
          <a:solidFill>
            <a:srgbClr val="060F1C"/>
          </a:solidFill>
          <a:ln w="12700">
            <a:solidFill>
              <a:srgbClr val="060F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90195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Drop in the hook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4672" y="216712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 useTrustChain } </a:t>
            </a:r>
            <a:pPr indent="0" marL="0">
              <a:buNone/>
            </a:pPr>
            <a:r>
              <a:rPr lang="en-US" sz="1100" b="1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'@trustchain/sdk';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04672" y="2432304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 tier, integrityScore } = </a:t>
            </a:r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useTrustChain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(walletAddress);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04672" y="269748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04672" y="285292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One conditional — that's the entire integration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" y="3118104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(tier === </a:t>
            </a:r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'RESTRICTED'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" y="338328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</a:t>
            </a:r>
            <a:pPr indent="0" marL="0">
              <a:buNone/>
            </a:pPr>
            <a:r>
              <a:rPr lang="en-US" sz="110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&lt;LockedOverlay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/&gt;;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04672" y="3648456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'Join Pool' button stays disabled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04672" y="391363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03520" y="1572768"/>
            <a:ext cx="3520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 FOR YOUR TEAM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303520" y="1901952"/>
            <a:ext cx="3520440" cy="658368"/>
          </a:xfrm>
          <a:prstGeom prst="rect">
            <a:avLst/>
          </a:prstGeom>
          <a:solidFill>
            <a:srgbClr val="0D1F35"/>
          </a:solidFill>
          <a:ln w="6350">
            <a:solidFill>
              <a:srgbClr val="1C3D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303520" y="1901952"/>
            <a:ext cx="50292" cy="65836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0" y="1975104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Database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0" y="2231136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live on-chain in PDAs. Your team reads state TrustChain maintains — zero schema changes, zero sync jobs.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303520" y="2670048"/>
            <a:ext cx="3520440" cy="658368"/>
          </a:xfrm>
          <a:prstGeom prst="rect">
            <a:avLst/>
          </a:prstGeom>
          <a:solidFill>
            <a:srgbClr val="0D1F35"/>
          </a:solidFill>
          <a:ln w="6350">
            <a:solidFill>
              <a:srgbClr val="1C3D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303520" y="2670048"/>
            <a:ext cx="50292" cy="658368"/>
          </a:xfrm>
          <a:prstGeom prst="rect">
            <a:avLst/>
          </a:prstGeom>
          <a:solidFill>
            <a:srgbClr val="3D9BE9"/>
          </a:solidFill>
          <a:ln w="12700">
            <a:solidFill>
              <a:srgbClr val="3D9B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0" y="2743200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9B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Sentinel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0" y="2999232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enforces a 3,000ms freshness window. Scores older than this trigger a Safety-First refresh automatically.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303520" y="3438144"/>
            <a:ext cx="3520440" cy="658368"/>
          </a:xfrm>
          <a:prstGeom prst="rect">
            <a:avLst/>
          </a:prstGeom>
          <a:solidFill>
            <a:srgbClr val="0D1F35"/>
          </a:solidFill>
          <a:ln w="6350">
            <a:solidFill>
              <a:srgbClr val="1C3D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303520" y="3438144"/>
            <a:ext cx="50292" cy="6583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0" y="3511296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Tier-Aware Rendering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0" y="3767328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 'tier' as a string — STEWARD, RESIDENT, PROBATIONARY, or RESTRICTED. UI logic is entirely yours.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303520" y="4206240"/>
            <a:ext cx="3520440" cy="658368"/>
          </a:xfrm>
          <a:prstGeom prst="rect">
            <a:avLst/>
          </a:prstGeom>
          <a:solidFill>
            <a:srgbClr val="0D1F35"/>
          </a:solidFill>
          <a:ln w="6350">
            <a:solidFill>
              <a:srgbClr val="1C3D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303520" y="4206240"/>
            <a:ext cx="50292" cy="65836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0" y="4279392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Non-Blocking Fallback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86400" y="4535424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PDA query fails, the SDK degrades gracefully. The gate defaults to Safety-First. User flow never breaks.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11480" y="4727448"/>
            <a:ext cx="8321040" cy="292608"/>
          </a:xfrm>
          <a:prstGeom prst="rect">
            <a:avLst/>
          </a:prstGeom>
          <a:solidFill>
            <a:srgbClr val="112847"/>
          </a:solidFill>
          <a:ln w="5080">
            <a:solidFill>
              <a:srgbClr val="1C3D6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4727448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time: </a:t>
            </a:r>
            <a:pPr algn="ctr" indent="0" marL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hours, not weeks</a:t>
            </a:r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New infrastructure required: </a:t>
            </a:r>
            <a:pPr algn="ctr" indent="0" marL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Data freshness: </a:t>
            </a:r>
            <a:pPr algn="ctr" indent="0" marL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3,000ms guaranteed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1737360" cy="246888"/>
          </a:xfrm>
          <a:prstGeom prst="rect">
            <a:avLst/>
          </a:prstGeom>
          <a:solidFill>
            <a:srgbClr val="00C9A7">
              <a:alpha val="20000"/>
            </a:srgbClr>
          </a:solidFill>
          <a:ln w="1016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00C9A7"/>
                </a:solidFill>
              </a:rPr>
              <a:t>THE ROADMAP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Devnet  →  Shadow Audit  →  Mainnet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114300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proven logic to live pool forensics in 90 days.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256032" y="1508760"/>
            <a:ext cx="2834640" cy="3429000"/>
          </a:xfrm>
          <a:prstGeom prst="rect">
            <a:avLst/>
          </a:prstGeom>
          <a:solidFill>
            <a:srgbClr val="0D1F35"/>
          </a:solidFill>
          <a:ln w="12700">
            <a:solidFill>
              <a:srgbClr val="3D9B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508760"/>
            <a:ext cx="2834640" cy="457200"/>
          </a:xfrm>
          <a:prstGeom prst="rect">
            <a:avLst/>
          </a:prstGeom>
          <a:solidFill>
            <a:srgbClr val="3D9BE9"/>
          </a:solidFill>
          <a:ln w="12700">
            <a:solidFill>
              <a:srgbClr val="3D9B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5087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1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·  Days 1–30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029968"/>
            <a:ext cx="2615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Hardening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514600"/>
            <a:ext cx="182880" cy="182880"/>
          </a:xfrm>
          <a:prstGeom prst="oval">
            <a:avLst/>
          </a:prstGeom>
          <a:solidFill>
            <a:srgbClr val="3D9BE9"/>
          </a:solidFill>
          <a:ln w="12700">
            <a:solidFill>
              <a:srgbClr val="3D9B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423160"/>
            <a:ext cx="2340864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Temporal Sentinel: Vercel → hardened high-concurrency architecture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3090672"/>
            <a:ext cx="182880" cy="182880"/>
          </a:xfrm>
          <a:prstGeom prst="oval">
            <a:avLst/>
          </a:prstGeom>
          <a:solidFill>
            <a:srgbClr val="3D9BE9"/>
          </a:solidFill>
          <a:ln w="12700">
            <a:solidFill>
              <a:srgbClr val="3D9B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999232"/>
            <a:ext cx="2340864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 3,000ms sync window under production-scale load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3666744"/>
            <a:ext cx="182880" cy="182880"/>
          </a:xfrm>
          <a:prstGeom prst="oval">
            <a:avLst/>
          </a:prstGeom>
          <a:solidFill>
            <a:srgbClr val="3D9BE9"/>
          </a:solidFill>
          <a:ln w="12700">
            <a:solidFill>
              <a:srgbClr val="3D9B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575304"/>
            <a:ext cx="2340864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Red Team: Anchor Notary Bridge vulnerability assessment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4242816"/>
            <a:ext cx="182880" cy="182880"/>
          </a:xfrm>
          <a:prstGeom prst="oval">
            <a:avLst/>
          </a:prstGeom>
          <a:solidFill>
            <a:srgbClr val="3D9BE9"/>
          </a:solidFill>
          <a:ln w="12700">
            <a:solidFill>
              <a:srgbClr val="3D9B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151376"/>
            <a:ext cx="2340864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PDA integrity before external audit engagement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27832" y="1508760"/>
            <a:ext cx="2834640" cy="3429000"/>
          </a:xfrm>
          <a:prstGeom prst="rect">
            <a:avLst/>
          </a:prstGeom>
          <a:solidFill>
            <a:srgbClr val="0D1F35"/>
          </a:solidFill>
          <a:ln w="1270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27832" y="1508760"/>
            <a:ext cx="2834640" cy="4572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19272" y="15087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1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·  Days 31–60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37560" y="2029968"/>
            <a:ext cx="2615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Audit Deployment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337560" y="2514600"/>
            <a:ext cx="182880" cy="182880"/>
          </a:xfrm>
          <a:prstGeom prst="oval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11880" y="2423160"/>
            <a:ext cx="2340864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useTrustChain SDK into the first live pool environment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337560" y="3090672"/>
            <a:ext cx="182880" cy="182880"/>
          </a:xfrm>
          <a:prstGeom prst="oval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11880" y="2999232"/>
            <a:ext cx="2340864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RiskAuditorAgent across 10+ high-volume Solana pools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337560" y="3666744"/>
            <a:ext cx="182880" cy="182880"/>
          </a:xfrm>
          <a:prstGeom prst="oval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11880" y="3575304"/>
            <a:ext cx="2340864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Mode: score wallets without affecting live payouts — observe only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337560" y="4242816"/>
            <a:ext cx="182880" cy="182880"/>
          </a:xfrm>
          <a:prstGeom prst="oval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11880" y="4151376"/>
            <a:ext cx="2340864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 Gini threshold (0.70) against real adversarial bot behavior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199632" y="1508760"/>
            <a:ext cx="2834640" cy="3429000"/>
          </a:xfrm>
          <a:prstGeom prst="rect">
            <a:avLst/>
          </a:prstGeom>
          <a:solidFill>
            <a:srgbClr val="0D1F35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99632" y="1508760"/>
            <a:ext cx="2834640" cy="4572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91072" y="15087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1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 ·  Days 61–90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309360" y="2029968"/>
            <a:ext cx="2615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Mainnet-Beta Launch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309360" y="2514600"/>
            <a:ext cx="182880" cy="182880"/>
          </a:xfrm>
          <a:prstGeom prst="oval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83680" y="2423160"/>
            <a:ext cx="2340864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from Devnet to Solana Mainnet for verified STEWARD wallets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309360" y="3090672"/>
            <a:ext cx="182880" cy="182880"/>
          </a:xfrm>
          <a:prstGeom prst="oval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0" y="2999232"/>
            <a:ext cx="2340864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formal third-party security audit of Notary Bridge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309360" y="3666744"/>
            <a:ext cx="182880" cy="182880"/>
          </a:xfrm>
          <a:prstGeom prst="oval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83680" y="3575304"/>
            <a:ext cx="2340864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live payout multipliers: RESTRICTED → 0x, STEWARD → 1.2x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309360" y="4242816"/>
            <a:ext cx="182880" cy="182880"/>
          </a:xfrm>
          <a:prstGeom prst="oval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83680" y="4151376"/>
            <a:ext cx="2340864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Scale: 100 monitored wallets → 100,000 at sustained 3,000ms latency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56032" y="4773168"/>
            <a:ext cx="8631936" cy="292608"/>
          </a:xfrm>
          <a:prstGeom prst="rect">
            <a:avLst/>
          </a:prstGeom>
          <a:solidFill>
            <a:srgbClr val="112847"/>
          </a:solidFill>
          <a:ln w="10160">
            <a:solidFill>
              <a:srgbClr val="00C9A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0040" y="4773168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first step: </a:t>
            </a:r>
            <a:pPr algn="ctr" indent="0" marL="0">
              <a:buNone/>
            </a:pPr>
            <a:r>
              <a:rPr lang="en-US" sz="10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Audit on a live pool — real clusters, real numbers, zero impact on live payouts.</a:t>
            </a:r>
            <a:pPr algn="ctr"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When can we look at your pool data together?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TrustChain-Sovereign: The Behavioral Firewall for Solana</dc:title>
  <dc:subject>PptxGenJS Presentation</dc:subject>
  <dc:creator>PptxGenJS</dc:creator>
  <cp:lastModifiedBy>PptxGenJS</cp:lastModifiedBy>
  <cp:revision>1</cp:revision>
  <dcterms:created xsi:type="dcterms:W3CDTF">2026-02-26T21:28:36Z</dcterms:created>
  <dcterms:modified xsi:type="dcterms:W3CDTF">2026-02-26T21:28:36Z</dcterms:modified>
</cp:coreProperties>
</file>